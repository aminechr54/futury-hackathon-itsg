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§pecs for the ITSG challenge.</a:t>
            </a:r>
          </a:p>
          <a:p>
            <a:r>
              <a:t>In one line: from the yearly specification to certified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December a new specification lands: the Verfahrensbeschreibung alone is 168 pages, around 400 with the other EEL documents.</a:t>
            </a:r>
          </a:p>
          <a:p>
            <a:r>
              <a:t>Experts read every line, highlight it by hand and rewrite the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manual steps: read, extract the rules, write 3,000–4,000 test cases, and every vendor's developer types them in again.</a:t>
            </a:r>
          </a:p>
          <a:p>
            <a:r>
              <a:t>Zero error tolerance: one wrong expected value and a vendor fails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§pecs: the AI reads and drafts, you approve, tested code calculates.</a:t>
            </a:r>
          </a:p>
          <a:p>
            <a:r>
              <a:t>Every value traces back to a sentence in the spec. Let me show you.</a:t>
            </a:r>
          </a:p>
          <a:p>
            <a:r>
              <a:t>Data: the government's v13.4 Verfahrensbeschreibung PDF (all 220 sections), last year's v13.3 from the archive, and ITSG's own reference case and TEEL0-Test1-DBVO file.</a:t>
            </a:r>
          </a:p>
          <a:p>
            <a:r>
              <a:t>Model: vllm/Kolibri-1 (Aleph Alpha) through the hessian.AI gateway, with tool calls. It only extracts parameters together with verbatim spec quotes; it never computes an expected value.</a:t>
            </a:r>
          </a:p>
          <a:p>
            <a:r>
              <a:t>Logic: structural § retrieval (headings, TOC, internal links) → deterministic diff and change log → AI extraction → 5 guards (quote verbatim, formula parses, oracle = AI value, number in quote, formula was run) → examiner approves → tested functions compute every expected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Before: weeks of reading and typing. After: one session, every value traced to the spec.</a:t>
            </a:r>
          </a:p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S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021" y="1600200"/>
            <a:ext cx="3081653" cy="1325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1072865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C1819"/>
                </a:solidFill>
                <a:latin typeface="Arial Narrow"/>
              </a:rPr>
              <a:t>§pecs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434840"/>
            <a:ext cx="9448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3D3537"/>
                </a:solidFill>
                <a:latin typeface="Segoe UI"/>
              </a:rPr>
              <a:t>From specification to certified test, in one session.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rick Star with red, tired ey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4846320" cy="4846320"/>
          </a:xfrm>
          <a:prstGeom prst="roundRect">
            <a:avLst>
              <a:gd name="adj" fmla="val 6000"/>
            </a:avLst>
          </a:prstGeom>
          <a:effectLst>
            <a:outerShdw blurRad="228600" dist="57150" dir="5400000" algn="t" rotWithShape="0">
              <a:srgbClr val="281418">
                <a:alpha val="16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6400800" y="1417320"/>
            <a:ext cx="5029200" cy="23774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C1819"/>
                </a:solidFill>
                <a:latin typeface="Arial Narrow"/>
              </a:rPr>
              <a:t>400 pages.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1C1819"/>
                </a:solidFill>
                <a:latin typeface="Arial Narrow"/>
              </a:rPr>
              <a:t>Every year.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1C1819"/>
                </a:solidFill>
                <a:latin typeface="Arial Narrow"/>
              </a:rPr>
              <a:t>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06908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3D3537"/>
                </a:solidFill>
                <a:latin typeface="Segoe UI"/>
              </a:rPr>
              <a:t>A new specification lands every December. </a:t>
            </a:r>
            <a:r>
              <a:rPr sz="2000" b="1">
                <a:solidFill>
                  <a:srgbClr val="1C1819"/>
                </a:solidFill>
                <a:latin typeface="Segoe UI"/>
              </a:rPr>
              <a:t>~400 pages.</a:t>
            </a:r>
            <a:r>
              <a:rPr sz="2000" b="0">
                <a:solidFill>
                  <a:srgbClr val="3D3537"/>
                </a:solidFill>
                <a:latin typeface="Segoe UI"/>
              </a:rPr>
              <a:t> Someone reads every line, and writes every test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200">
                <a:solidFill>
                  <a:srgbClr val="B0142F"/>
                </a:solidFill>
                <a:latin typeface="Segoe UI"/>
              </a:rPr>
              <a:t>WHERE THE HOURS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1C1819"/>
                </a:solidFill>
                <a:latin typeface="Arial Narrow"/>
              </a:rPr>
              <a:t>Four steps, all by hand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0">
                <a:solidFill>
                  <a:srgbClr val="1C1819"/>
                </a:solidFill>
                <a:latin typeface="Segoe UI Emoj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1819"/>
                </a:solidFill>
                <a:latin typeface="Arial Narrow"/>
              </a:rPr>
              <a:t>Read the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142F"/>
                </a:solidFill>
                <a:latin typeface="Segoe UI"/>
              </a:rPr>
              <a:t>~400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3383280"/>
            <a:ext cx="429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0142F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60604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880360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0">
                <a:solidFill>
                  <a:srgbClr val="1C1819"/>
                </a:solidFill>
                <a:latin typeface="Segoe UI Emoji"/>
              </a:rPr>
              <a:t>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520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1819"/>
                </a:solidFill>
                <a:latin typeface="Arial Narrow"/>
              </a:rPr>
              <a:t>Extract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931920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142F"/>
                </a:solidFill>
                <a:latin typeface="Segoe UI"/>
              </a:rPr>
              <a:t>by hand, § by 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3383280"/>
            <a:ext cx="429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0142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60604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880360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0">
                <a:solidFill>
                  <a:srgbClr val="1C1819"/>
                </a:solidFill>
                <a:latin typeface="Segoe UI Emoji"/>
              </a:rPr>
              <a:t>☑️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520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1819"/>
                </a:solidFill>
                <a:latin typeface="Arial Narrow"/>
              </a:rPr>
              <a:t>Write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931920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142F"/>
                </a:solidFill>
                <a:latin typeface="Segoe UI"/>
              </a:rPr>
              <a:t>3,000–4,000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3383280"/>
            <a:ext cx="429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0142F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260604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880360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0">
                <a:solidFill>
                  <a:srgbClr val="1C1819"/>
                </a:solidFill>
                <a:latin typeface="Segoe UI Emoji"/>
              </a:rPr>
              <a:t>⌨️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520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1819"/>
                </a:solidFill>
                <a:latin typeface="Arial Narrow"/>
              </a:rPr>
              <a:t>Dev types them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931920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142F"/>
                </a:solidFill>
                <a:latin typeface="Segoe UI"/>
              </a:rPr>
              <a:t>manually, per vendor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83480"/>
            <a:ext cx="10799064" cy="822960"/>
          </a:xfrm>
          <a:prstGeom prst="roundRect">
            <a:avLst>
              <a:gd name="adj" fmla="val 14000"/>
            </a:avLst>
          </a:prstGeom>
          <a:solidFill>
            <a:srgbClr val="B0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0799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Narrow"/>
              </a:rPr>
              <a:t>Every year. By hand. Zero error tolerance.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200">
                <a:solidFill>
                  <a:srgbClr val="B0142F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C1819"/>
                </a:solidFill>
                <a:latin typeface="Arial Narrow"/>
              </a:rPr>
              <a:t>§pecs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88920"/>
            <a:ext cx="9448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3D3537"/>
                </a:solidFill>
                <a:latin typeface="Segoe UI"/>
              </a:rPr>
              <a:t>From specification to certified test, in one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0927" y="37947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7" y="3977639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1C1819"/>
                </a:solidFill>
                <a:latin typeface="Segoe UI Emoji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807" y="46177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C1819"/>
                </a:solidFill>
                <a:latin typeface="Segoe UI"/>
              </a:rPr>
              <a:t>AI reads the spec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37947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977639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1C1819"/>
                </a:solidFill>
                <a:latin typeface="Segoe UI Emoj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527" y="46177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C1819"/>
                </a:solidFill>
                <a:latin typeface="Segoe UI"/>
              </a:rPr>
              <a:t>You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0367" y="37947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0367" y="3977639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1C1819"/>
                </a:solidFill>
                <a:latin typeface="Segoe UI Emoji"/>
              </a:rP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247" y="46177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C1819"/>
                </a:solidFill>
                <a:latin typeface="Segoe UI"/>
              </a:rPr>
              <a:t>Every value traces to a 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 tired man at a desk late at night"/>
          <p:cNvPicPr>
            <a:picLocks noChangeAspect="1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822960" y="640080"/>
            <a:ext cx="4572000" cy="3017520"/>
          </a:xfrm>
          <a:prstGeom prst="roundRect">
            <a:avLst>
              <a:gd name="adj" fmla="val 6000"/>
            </a:avLst>
          </a:prstGeom>
          <a:effectLst>
            <a:outerShdw blurRad="228600" dist="57150" dir="5400000" algn="t" rotWithShape="0">
              <a:srgbClr val="281418">
                <a:alpha val="16000"/>
              </a:srgbClr>
            </a:outerShdw>
          </a:effectLst>
        </p:spPr>
      </p:pic>
      <p:pic>
        <p:nvPicPr>
          <p:cNvPr id="3" name="Picture 2" descr="A happy squirrel riding a unicorn under a rainbow"/>
          <p:cNvPicPr>
            <a:picLocks noChangeAspect="1"/>
          </p:cNvPicPr>
          <p:nvPr/>
        </p:nvPicPr>
        <p:blipFill>
          <a:blip r:embed="rId4"/>
          <a:srcRect l="1016" r="1016"/>
          <a:stretch>
            <a:fillRect/>
          </a:stretch>
        </p:blipFill>
        <p:spPr>
          <a:xfrm>
            <a:off x="6796735" y="640080"/>
            <a:ext cx="4572000" cy="3017520"/>
          </a:xfrm>
          <a:prstGeom prst="roundRect">
            <a:avLst>
              <a:gd name="adj" fmla="val 6000"/>
            </a:avLst>
          </a:prstGeom>
          <a:effectLst>
            <a:outerShdw blurRad="228600" dist="57150" dir="5400000" algn="t" rotWithShape="0">
              <a:srgbClr val="281418">
                <a:alpha val="16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394960" y="1691639"/>
            <a:ext cx="14017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B0142F"/>
                </a:solidFill>
                <a:latin typeface="Segoe U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1819"/>
                </a:solidFill>
                <a:latin typeface="Arial Narrow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D6366"/>
                </a:solidFill>
                <a:latin typeface="Segoe UI"/>
              </a:rPr>
              <a:t>Weeks of reading. Thousands of test cases, written and typed in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6735" y="379476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1819"/>
                </a:solidFill>
                <a:latin typeface="Arial Narrow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6735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D6366"/>
                </a:solidFill>
                <a:latin typeface="Segoe UI"/>
              </a:rPr>
              <a:t>Spec in, certified tests out: in one session, every value traced to the spec.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7286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1C1819"/>
                </a:solidFill>
                <a:latin typeface="Arial Narrow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§pecs</dc:title>
  <dc:subject>From specification to certified test, in one session.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